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9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C768-1288-4EC0-B178-562A21324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EB26D-7CAE-4845-9562-3C625A23C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E285-F58C-4A93-B91E-4BFCB74A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BED31-0E92-4C6C-8D7A-EAB8895D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963A4-7DA1-46D1-A3F1-2E7121D8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6E6A-1AC9-415C-84D2-4A37DE1D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7A2B-27AC-4F93-BCD0-CE6C7E138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2669-BF3F-47A2-B732-4433B5B9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A3D68-D9BE-41D8-842E-1385A7BE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FAA2E-3F3A-4210-9FF5-210607C6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8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0B82-BC49-41A3-9C2A-10F29FB6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E6DB4-9518-4FA3-AAB7-CA571D303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62232-275A-4BF7-818F-397ADC69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54F0A-C307-4DDC-BF3A-67217A07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F88A-381C-46BB-9183-57F9F9B7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2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49D1-282C-43BF-9A6C-11902851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A454-8351-4407-B880-1AEBD4592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54EB5-5115-49BC-A713-CA7AC7ED1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BABC0-BD2C-47AB-AC7B-7D29F2D4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71E9E-3734-4F99-B344-EA6075B9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5FA59-5CFF-4F48-B23D-58210269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9B23-C40F-4748-9D93-EB2BD05E8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3670C-8E01-416A-980F-11B1F35C1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C633B-FD4A-4D58-A70E-D12155420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2C2A4-B292-4AC8-ABA1-21EC024D4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DEB4B-28F2-4CF1-A5F3-F57530E37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2F781-DA7D-437B-9206-271C47E0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935AC2-3E46-4233-B05B-8EB8DA7B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B3A8C-CE20-4F70-847B-69C9D4ED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4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A11A-5FE5-49A9-83DC-F6C32F3F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A8672-5A42-49B0-84FC-F09608EC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B7EEC-6009-4664-86F3-E055DAE8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E8C56-3335-4FC5-942C-82E36D0D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0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2ABFA-7D71-49A0-B6EB-BE3E8E94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3332C-E883-42CF-AEA0-89450E2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CAE88-635B-4B84-9094-A4C21C83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1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EE06-0B0F-4575-B947-3D55C256A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21B6-A345-48E8-A188-9D6F2BC9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29CE5-1C4E-4AED-A129-433C9A9B7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3509-1C3B-4E26-843C-802ED728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CFAA9-6F3F-4621-812C-471742B3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2D5A8-9C1C-47CB-9930-98B33D1A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7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48D4-FA65-4331-A7AD-99E59919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C2433-4DA6-43A4-AC29-92E515008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8F1E1-7E00-4F0B-A763-F5F80C088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95EC6-ED89-499E-A55A-08F742E7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4AB08-6059-4F10-B8D0-298846D7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8BA0A-ABCD-46EC-83A4-85207634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2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8719-72A9-4C93-96A0-DFF38058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CD68E-08FE-4913-B176-9339CB4BF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407B-8D41-4187-A783-073ECF2F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70138-1E80-4F16-8F13-0CD67095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7B3B9-738D-490F-98D2-20EF858A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2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BB8BE-2FEC-4137-9B6D-CC6072036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41D5B-B469-40A9-97F6-5E453958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1DB34-83B8-4F7D-9C58-01839F62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1A7F2-1A83-4913-8DB2-CAF567C8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BF799-B594-4CFA-8DE3-E59AD37E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8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84F9D-B4F6-4469-94DF-551C6A91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12C6E-4E6B-473F-8C99-9031A9C49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5F30C-332F-4120-A661-2D94067DB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E3CE2-7C74-44F5-AD3B-E3A9C7FB232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6D6B-554D-4B4F-B3F4-AB387600E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87C14-04BB-4CB8-A54B-BADA9546E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BE3E8-D717-4746-8497-82EA1769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7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8FA7E-C104-2889-0BDB-734A53E63739}"/>
              </a:ext>
            </a:extLst>
          </p:cNvPr>
          <p:cNvSpPr txBox="1"/>
          <p:nvPr/>
        </p:nvSpPr>
        <p:spPr>
          <a:xfrm>
            <a:off x="1396357" y="2618126"/>
            <a:ext cx="692595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 Members.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Kato Joseph Bwanika         Reg:2023-B291-11709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Mambo Emmanuel             Reg:2022-B291-11357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 Ssenkaayi Vihan              	Reg:2023-B291-11360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Kutosi Mark                           Reg:2023-B291-11708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Lubangakene</a:t>
            </a:r>
            <a:r>
              <a:rPr lang="en-US" sz="2400" b="1" dirty="0"/>
              <a:t> Jonathan	 Reg:2023-B291-13195</a:t>
            </a:r>
          </a:p>
        </p:txBody>
      </p:sp>
      <p:pic>
        <p:nvPicPr>
          <p:cNvPr id="1028" name="Picture 4" descr="Uganda Martyrs University | E4Impact">
            <a:extLst>
              <a:ext uri="{FF2B5EF4-FFF2-40B4-BE49-F238E27FC236}">
                <a16:creationId xmlns:a16="http://schemas.microsoft.com/office/drawing/2014/main" id="{07FFF60C-FCD7-8EE7-0774-745C37E3B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8761431" y="4376978"/>
            <a:ext cx="1748789" cy="18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F916F8-2B36-5BB8-E235-3922CF48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611028"/>
            <a:ext cx="10896600" cy="2007098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 Sentiment Classification with RNN/LSTM (IMDB Dataset) </a:t>
            </a:r>
            <a:b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D1A8-D3E9-47C5-B929-97DBF5F8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85" y="194297"/>
            <a:ext cx="10121899" cy="111748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Loading and preprocessing IMDB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83C9CC-EFFB-48DA-B597-FFA4B7729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501" y="1478083"/>
            <a:ext cx="6142914" cy="3223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9C49B4-7991-4574-8174-BF887E30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92" y="4749701"/>
            <a:ext cx="6828112" cy="152413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9F6E594-EEC7-4E29-BD13-2E63785F557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4386" y="2091670"/>
            <a:ext cx="472051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IMDB dataset</a:t>
            </a:r>
            <a:r>
              <a:rPr lang="en-US" sz="2000" dirty="0"/>
              <a:t> has </a:t>
            </a:r>
            <a:r>
              <a:rPr lang="en-US" sz="2000" b="1" dirty="0"/>
              <a:t>50,000 movie reviews</a:t>
            </a:r>
            <a:r>
              <a:rPr lang="en-US" sz="2000" dirty="0"/>
              <a:t> (25,000 for training and 25,000 for testing).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review is already turned into a list of numbers representing 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model learns to decide if a review is </a:t>
            </a:r>
            <a:r>
              <a:rPr lang="en-US" sz="2000" b="1" dirty="0"/>
              <a:t>positive (1)</a:t>
            </a:r>
            <a:r>
              <a:rPr lang="en-US" sz="2000" dirty="0"/>
              <a:t> or </a:t>
            </a:r>
            <a:r>
              <a:rPr lang="en-US" sz="2000" b="1" dirty="0"/>
              <a:t>negative (0)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Since RNNs need inputs of the same length, </a:t>
            </a:r>
            <a:r>
              <a:rPr lang="en-US" sz="2000" b="1" dirty="0"/>
              <a:t>short reviews are padded with zeros</a:t>
            </a:r>
            <a:r>
              <a:rPr lang="en-US" sz="2000" dirty="0"/>
              <a:t> and </a:t>
            </a:r>
            <a:r>
              <a:rPr lang="en-US" sz="2000" b="1" dirty="0"/>
              <a:t>long ones are cut (truncated)</a:t>
            </a:r>
            <a:r>
              <a:rPr lang="en-US" sz="2000" dirty="0"/>
              <a:t> to match the required size.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EEC01-0EFB-6050-A767-5F3DCA8B7AE2}"/>
              </a:ext>
            </a:extLst>
          </p:cNvPr>
          <p:cNvSpPr txBox="1"/>
          <p:nvPr/>
        </p:nvSpPr>
        <p:spPr>
          <a:xfrm>
            <a:off x="406400" y="1649364"/>
            <a:ext cx="4254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Data Loading and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38974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2FAA-2367-4003-BFBD-5C438B97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57" y="619125"/>
            <a:ext cx="8369300" cy="75247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LSTM model for binary sentiment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5C93C2-A69E-409C-B89B-F3A89478B7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9098" y="1536800"/>
            <a:ext cx="5359401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Embedding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first layer converts each word-number into a dense vector of 128 numbers. Think of this as turning a simple code like 5 into a richer, detailed profile that captures the word's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LSTM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(Long Short-Term Memory)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Google Sans Text"/>
              </a:rPr>
              <a:t> 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 a special kind of sequence processor. It is good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remembering context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over long pieces of text. It reads the 500-word review and summarizes the overall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Dense Layer (Output):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takes the summary and outputs a number between 0 and 1. 1 means it's positive, and 0 means its negative.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EED8A-64C4-4D71-925E-55901B74A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464" y="1690688"/>
            <a:ext cx="6523536" cy="417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8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795B-608D-4817-AA06-5E0BE192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61925"/>
            <a:ext cx="8293100" cy="75247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Plot training/validation accuracy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AEC128-F237-41D0-B0A7-51D4C67A56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300" y="914400"/>
            <a:ext cx="8454571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 (The Learning Process):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is where the model reads the reviews and tries to guess the sentiment 0 or 1. If it guesses wrong, it adjusts its internal settings (its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weights/parameters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to improve its next guess.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Epochs: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set the model to train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 epochs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One epoch means the model reads and learns from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entire training dataset once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Validation Split: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use 20% of our 25,000 training reviews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validation 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The model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doesn't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learn from this 20%; it just guesses on them after each epoch. This helps us monitor if the model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0642D-B8D5-4EB7-9AF9-C964659E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4152900"/>
            <a:ext cx="8234091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7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25F4-1467-4B72-96E4-0A8C6BF8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25" y="112245"/>
            <a:ext cx="9426758" cy="72498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with a GRU-based model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916E18-7C11-4A88-80B0-DCEE9846C1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938" y="923330"/>
            <a:ext cx="94267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are comparing the performance of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model. Both are types of advanced Recurrent Neural Networks (RNNs).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 (Gated Recurrent Unit):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of the LSTM. It has fewer parameters because it uses only two internal gates instead of three.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A5FD5-B375-492B-AE9E-A50B63737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2209760"/>
            <a:ext cx="9426757" cy="32235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63B81-87DC-478A-BC7A-1735DDF616A4}"/>
              </a:ext>
            </a:extLst>
          </p:cNvPr>
          <p:cNvSpPr/>
          <p:nvPr/>
        </p:nvSpPr>
        <p:spPr>
          <a:xfrm>
            <a:off x="472439" y="5888732"/>
            <a:ext cx="108993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Minimal difference.</a:t>
            </a:r>
            <a:r>
              <a:rPr lang="en-US" dirty="0"/>
              <a:t> In practice, the expected speed advantage of GRU is not significant for this dataset size and model architecture.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0FD7B-B1B0-4D45-A562-6F623FBA55B6}"/>
              </a:ext>
            </a:extLst>
          </p:cNvPr>
          <p:cNvSpPr/>
          <p:nvPr/>
        </p:nvSpPr>
        <p:spPr>
          <a:xfrm>
            <a:off x="472439" y="6488668"/>
            <a:ext cx="9029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GRU model overfits slightly more</a:t>
            </a:r>
            <a:r>
              <a:rPr lang="en-US" dirty="0"/>
              <a:t> (larger gap between training and validation accuracy).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6110C-4F47-4123-AB52-DAFAA9B803D4}"/>
              </a:ext>
            </a:extLst>
          </p:cNvPr>
          <p:cNvSpPr/>
          <p:nvPr/>
        </p:nvSpPr>
        <p:spPr>
          <a:xfrm>
            <a:off x="472439" y="5519400"/>
            <a:ext cx="1139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GRU is marginally higher</a:t>
            </a:r>
            <a:r>
              <a:rPr lang="en-US" dirty="0"/>
              <a:t> on the data it trained on, but this doesn't translate to better performance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328642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E0C3-5DD8-4D27-BACA-3C098FDF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11263"/>
            <a:ext cx="5765800" cy="460375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on test 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DEFF12-B82A-42FF-82FE-A505198963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457" y="1276146"/>
            <a:ext cx="5157844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LSTM model performed slightly better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the unseen validation data, suggesting its more complex architecture (with the additional gate) was better at generalizing the long-term dependencies in the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 Complexity (Parameters):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GRU model is less complex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(fewer trainable parameters) than the LSTM model. This is the main theoretical difference, as the GRU uses 2 gates while the LSTM uses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 Speed: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Both models took approximately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same time but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GRU proved to be faster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5E426-E604-41F0-828A-8D4906DC9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96"/>
          <a:stretch>
            <a:fillRect/>
          </a:stretch>
        </p:blipFill>
        <p:spPr>
          <a:xfrm>
            <a:off x="6095999" y="1326946"/>
            <a:ext cx="5524672" cy="21020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E16D9E-CDA8-4DE6-8746-C96EDED8D0C0}"/>
              </a:ext>
            </a:extLst>
          </p:cNvPr>
          <p:cNvSpPr/>
          <p:nvPr/>
        </p:nvSpPr>
        <p:spPr>
          <a:xfrm>
            <a:off x="6096000" y="3576935"/>
            <a:ext cx="55246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high F1-score shows a strong balance between the model's </a:t>
            </a:r>
            <a:r>
              <a:rPr lang="en-US" b="1" dirty="0"/>
              <a:t>Precision</a:t>
            </a:r>
            <a:r>
              <a:rPr lang="en-US" dirty="0"/>
              <a:t> (avoiding false positives) and </a:t>
            </a:r>
            <a:r>
              <a:rPr lang="en-US" b="1" dirty="0"/>
              <a:t>Recall</a:t>
            </a:r>
            <a:r>
              <a:rPr lang="en-US" dirty="0"/>
              <a:t> (finding all true positives).</a:t>
            </a:r>
          </a:p>
        </p:txBody>
      </p:sp>
    </p:spTree>
    <p:extLst>
      <p:ext uri="{BB962C8B-B14F-4D97-AF65-F5344CB8AC3E}">
        <p14:creationId xmlns:p14="http://schemas.microsoft.com/office/powerpoint/2010/main" val="137669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E210-0A67-4007-8998-7E86EB4E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07723"/>
            <a:ext cx="10236200" cy="104797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Predictions for custom sentences and 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2E88CB-0146-4C7A-90F7-D1DECDE71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425"/>
          <a:stretch>
            <a:fillRect/>
          </a:stretch>
        </p:blipFill>
        <p:spPr>
          <a:xfrm>
            <a:off x="4841567" y="1593412"/>
            <a:ext cx="7096433" cy="49780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5C2FC9-31BC-442F-834A-5E26258EE933}"/>
              </a:ext>
            </a:extLst>
          </p:cNvPr>
          <p:cNvSpPr/>
          <p:nvPr/>
        </p:nvSpPr>
        <p:spPr>
          <a:xfrm>
            <a:off x="254000" y="1155701"/>
            <a:ext cx="403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872A2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089B4"/>
                </a:solidFill>
                <a:latin typeface="Consolas" panose="020B0609020204030204" pitchFamily="49" charset="0"/>
              </a:rPr>
              <a:t>prediction_proba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76867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089B4"/>
                </a:solidFill>
                <a:latin typeface="Consolas" panose="020B0609020204030204" pitchFamily="49" charset="0"/>
              </a:rPr>
              <a:t>0.5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6089B4"/>
                </a:solidFill>
                <a:latin typeface="Consolas" panose="020B0609020204030204" pitchFamily="49" charset="0"/>
              </a:rPr>
              <a:t>sentiment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7686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AA83A"/>
                </a:solidFill>
                <a:latin typeface="Consolas" panose="020B0609020204030204" pitchFamily="49" charset="0"/>
              </a:rPr>
              <a:t>"POSITIVE"</a:t>
            </a:r>
            <a:endParaRPr lang="en-US" dirty="0">
              <a:solidFill>
                <a:srgbClr val="C5C8C6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872A2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6089B4"/>
                </a:solidFill>
                <a:latin typeface="Consolas" panose="020B0609020204030204" pitchFamily="49" charset="0"/>
              </a:rPr>
              <a:t>sentiment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7686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AA83A"/>
                </a:solidFill>
                <a:latin typeface="Consolas" panose="020B0609020204030204" pitchFamily="49" charset="0"/>
              </a:rPr>
              <a:t>"NEGATIVE"</a:t>
            </a:r>
            <a:endParaRPr lang="en-US" dirty="0">
              <a:solidFill>
                <a:srgbClr val="C5C8C6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C5C8C6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C5C8C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DF6C3-0D76-3354-F752-3B995875DE64}"/>
              </a:ext>
            </a:extLst>
          </p:cNvPr>
          <p:cNvSpPr txBox="1"/>
          <p:nvPr/>
        </p:nvSpPr>
        <p:spPr>
          <a:xfrm>
            <a:off x="127000" y="2478038"/>
            <a:ext cx="45339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final evaluation on the test set showed that the LSTM model slightly outperformed the GRU in capturing long-term dependencies in movie reviews.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achieved a high F1-score, reflecting a good balance between Precision and Recall.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Sentiment classification is determined from the output probability of the final Dense layer, with reviews labeled "POSITIVE" if the probability exceeds 0.5, and "NEGATIVE" otherwise.</a:t>
            </a:r>
          </a:p>
        </p:txBody>
      </p:sp>
    </p:spTree>
    <p:extLst>
      <p:ext uri="{BB962C8B-B14F-4D97-AF65-F5344CB8AC3E}">
        <p14:creationId xmlns:p14="http://schemas.microsoft.com/office/powerpoint/2010/main" val="283596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F502-534A-4AB0-BC72-6689FC23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44" y="222098"/>
            <a:ext cx="6115956" cy="62157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Dropout and regularization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49D68-1C7A-4338-B140-86ACA9269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852" y="4662392"/>
            <a:ext cx="6641004" cy="1878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EE0450-D449-2D70-4CCA-51CE4A049B85}"/>
              </a:ext>
            </a:extLst>
          </p:cNvPr>
          <p:cNvSpPr txBox="1"/>
          <p:nvPr/>
        </p:nvSpPr>
        <p:spPr>
          <a:xfrm>
            <a:off x="110144" y="1138924"/>
            <a:ext cx="116150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Dropout:</a:t>
            </a:r>
            <a:r>
              <a:rPr lang="en-US" dirty="0"/>
              <a:t> Randomly turns off some neurons during training to stop the model from relying too much on specific features and reduce overfitting.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Recurrent Regularization (L2):</a:t>
            </a:r>
            <a:r>
              <a:rPr lang="en-US" dirty="0"/>
              <a:t> Adds a small penalty to large weights inside the LSTM/GRU to make the model learn simpler, more general patterns.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Training Accuracy:</a:t>
            </a:r>
            <a:r>
              <a:rPr lang="en-US" dirty="0"/>
              <a:t> Dropped slightly from </a:t>
            </a:r>
            <a:r>
              <a:rPr lang="en-US" b="1" dirty="0"/>
              <a:t>95.04% to 93.82%</a:t>
            </a:r>
            <a:r>
              <a:rPr lang="en-US" dirty="0"/>
              <a:t>, which is expected since regularization slows learning to prevent memorization.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Validation Accuracy:</a:t>
            </a:r>
            <a:r>
              <a:rPr lang="en-US" dirty="0"/>
              <a:t> Fell from </a:t>
            </a:r>
            <a:r>
              <a:rPr lang="en-US" b="1" dirty="0"/>
              <a:t>86.64% to 83.34%</a:t>
            </a:r>
            <a:r>
              <a:rPr lang="en-US" dirty="0"/>
              <a:t>, meaning the regularization was too strong and caused </a:t>
            </a:r>
            <a:r>
              <a:rPr lang="en-US" b="1" dirty="0"/>
              <a:t>underfitting</a:t>
            </a:r>
            <a:r>
              <a:rPr lang="en-US" dirty="0"/>
              <a:t>. The model struggled to generalize well to new data.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D398A9-E591-7BA5-FE81-93A9DC1B0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1" b="7988"/>
          <a:stretch>
            <a:fillRect/>
          </a:stretch>
        </p:blipFill>
        <p:spPr bwMode="auto">
          <a:xfrm>
            <a:off x="110144" y="4573492"/>
            <a:ext cx="5338156" cy="176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95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E4C2-76FB-4684-ACD1-0FFD41679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272009"/>
            <a:ext cx="9829800" cy="739448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Embedding weights using t-SNE or PCA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1386C-CD7B-4297-AE68-8C0CBFF1E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025" y="1111962"/>
            <a:ext cx="5490304" cy="547402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24A8DAB-C40A-3FCF-141F-628D3CA00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9" b="16039"/>
          <a:stretch>
            <a:fillRect/>
          </a:stretch>
        </p:blipFill>
        <p:spPr bwMode="auto">
          <a:xfrm>
            <a:off x="451196" y="4013168"/>
            <a:ext cx="6254750" cy="284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193FA-8770-B14B-6A49-F218107D00E8}"/>
              </a:ext>
            </a:extLst>
          </p:cNvPr>
          <p:cNvSpPr txBox="1"/>
          <p:nvPr/>
        </p:nvSpPr>
        <p:spPr>
          <a:xfrm>
            <a:off x="279399" y="1081151"/>
            <a:ext cx="56035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Word Embedding Visualization (t-SNE)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used </a:t>
            </a:r>
            <a:r>
              <a:rPr lang="en-US" b="1" dirty="0"/>
              <a:t>t-SNE</a:t>
            </a:r>
            <a:r>
              <a:rPr lang="en-US" dirty="0"/>
              <a:t> to reduce </a:t>
            </a:r>
            <a:r>
              <a:rPr lang="en-US" b="1" dirty="0"/>
              <a:t>500 common word vectors</a:t>
            </a:r>
            <a:r>
              <a:rPr lang="en-US" dirty="0"/>
              <a:t> from </a:t>
            </a:r>
            <a:r>
              <a:rPr lang="en-US" b="1" dirty="0"/>
              <a:t>128 dimensions to 2</a:t>
            </a:r>
            <a:r>
              <a:rPr lang="en-US" dirty="0"/>
              <a:t> for easy viewing.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plot shows that </a:t>
            </a:r>
            <a:r>
              <a:rPr lang="en-US" b="1" dirty="0"/>
              <a:t>similar words are grouped together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Words with the same feeling, like </a:t>
            </a:r>
            <a:r>
              <a:rPr lang="en-US" i="1" dirty="0"/>
              <a:t>“terrible”</a:t>
            </a:r>
            <a:r>
              <a:rPr lang="en-US" dirty="0"/>
              <a:t> and </a:t>
            </a:r>
            <a:r>
              <a:rPr lang="en-US" i="1" dirty="0"/>
              <a:t>“boring”</a:t>
            </a:r>
            <a:r>
              <a:rPr lang="en-US" dirty="0"/>
              <a:t>, appear close to each other.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means the model </a:t>
            </a:r>
            <a:r>
              <a:rPr lang="en-US" b="1" dirty="0"/>
              <a:t>understands word meanings and emotions</a:t>
            </a:r>
            <a:r>
              <a:rPr lang="en-US" dirty="0"/>
              <a:t>, which helps it </a:t>
            </a:r>
            <a:r>
              <a:rPr lang="en-US" b="1" dirty="0"/>
              <a:t>predict sentiment correctly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23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A2076-E71F-9DF6-CA97-6D70B42EE3B9}"/>
              </a:ext>
            </a:extLst>
          </p:cNvPr>
          <p:cNvSpPr txBox="1"/>
          <p:nvPr/>
        </p:nvSpPr>
        <p:spPr>
          <a:xfrm>
            <a:off x="292100" y="1295400"/>
            <a:ext cx="6350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Recurrent Neural Networks (RNNs) and LSTMs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RNNs</a:t>
            </a:r>
            <a:r>
              <a:rPr lang="en-US" sz="2000" dirty="0"/>
              <a:t> are designed for sequential data (e.g., movie reviews) because they have </a:t>
            </a:r>
            <a:r>
              <a:rPr lang="en-US" sz="2000" b="1" dirty="0"/>
              <a:t>internal memory</a:t>
            </a:r>
            <a:r>
              <a:rPr lang="en-US" sz="2000" dirty="0"/>
              <a:t> that captures sequence and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They use a </a:t>
            </a:r>
            <a:r>
              <a:rPr lang="en-US" sz="2000" b="1" dirty="0"/>
              <a:t>hidden state</a:t>
            </a:r>
            <a:r>
              <a:rPr lang="en-US" sz="2000" dirty="0"/>
              <a:t> to retain information from previous inputs, helping the model understand word meaning based on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LSTMs (Long Short-Term Memory networks)</a:t>
            </a:r>
            <a:r>
              <a:rPr lang="en-US" sz="2000" dirty="0"/>
              <a:t> solve the vanishing gradient problem using an internal </a:t>
            </a:r>
            <a:r>
              <a:rPr lang="en-US" sz="2000" b="1" dirty="0"/>
              <a:t>cell state</a:t>
            </a:r>
            <a:r>
              <a:rPr lang="en-US" sz="2000" dirty="0"/>
              <a:t> and three gates: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Forget Gate</a:t>
            </a:r>
            <a:r>
              <a:rPr lang="en-US" sz="2000" dirty="0"/>
              <a:t> – discards irrelevant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Input Gate</a:t>
            </a:r>
            <a:r>
              <a:rPr lang="en-US" sz="2000" dirty="0"/>
              <a:t> – stores new important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Output Gate</a:t>
            </a:r>
            <a:r>
              <a:rPr lang="en-US" sz="2000" dirty="0"/>
              <a:t> – selects information for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These gates allow LSTMs to maintain key information across long sequences, making them effective for tasks like </a:t>
            </a:r>
            <a:r>
              <a:rPr lang="en-US" sz="2000" b="1" dirty="0"/>
              <a:t>sentiment analysis</a:t>
            </a:r>
            <a:r>
              <a:rPr lang="en-US" sz="2000" dirty="0"/>
              <a:t> and understanding </a:t>
            </a:r>
            <a:r>
              <a:rPr lang="en-US" sz="2000" b="1" dirty="0"/>
              <a:t>long-term dependencies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A88C1-30BF-766E-AD92-6934F654392E}"/>
              </a:ext>
            </a:extLst>
          </p:cNvPr>
          <p:cNvSpPr txBox="1"/>
          <p:nvPr/>
        </p:nvSpPr>
        <p:spPr>
          <a:xfrm>
            <a:off x="419100" y="437634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</a:t>
            </a:r>
            <a: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  <a:endParaRPr 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0FB377-3317-70CC-6ABF-1A44265C1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3" b="3830"/>
          <a:stretch>
            <a:fillRect/>
          </a:stretch>
        </p:blipFill>
        <p:spPr bwMode="auto">
          <a:xfrm>
            <a:off x="7035800" y="174143"/>
            <a:ext cx="3797300" cy="670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31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1182D-5309-FC2F-65CA-8DF5A2E67A03}"/>
              </a:ext>
            </a:extLst>
          </p:cNvPr>
          <p:cNvSpPr txBox="1"/>
          <p:nvPr/>
        </p:nvSpPr>
        <p:spPr>
          <a:xfrm>
            <a:off x="254001" y="520700"/>
            <a:ext cx="337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E965BC-C80B-7D49-D1E5-5C51283A2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t="6669" r="7326" b="10934"/>
          <a:stretch>
            <a:fillRect/>
          </a:stretch>
        </p:blipFill>
        <p:spPr bwMode="auto">
          <a:xfrm>
            <a:off x="4420202" y="844867"/>
            <a:ext cx="7771798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5A2DF3-663B-83C1-F65D-F4EDA8D11481}"/>
              </a:ext>
            </a:extLst>
          </p:cNvPr>
          <p:cNvSpPr txBox="1"/>
          <p:nvPr/>
        </p:nvSpPr>
        <p:spPr>
          <a:xfrm>
            <a:off x="165100" y="1228586"/>
            <a:ext cx="41529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project trained </a:t>
            </a:r>
            <a:r>
              <a:rPr lang="en-US" sz="2000" b="1" dirty="0"/>
              <a:t>LSTM and GRU models</a:t>
            </a:r>
            <a:r>
              <a:rPr lang="en-US" sz="2000" dirty="0"/>
              <a:t> to classify IMDB movie reviews as positive or negative.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LSTM model</a:t>
            </a:r>
            <a:r>
              <a:rPr lang="en-US" sz="2000" dirty="0"/>
              <a:t> performed slightly better because it captures long-term context. </a:t>
            </a:r>
            <a:r>
              <a:rPr lang="en-US" sz="2000" b="1" dirty="0"/>
              <a:t>t-SNE visualization</a:t>
            </a:r>
            <a:r>
              <a:rPr lang="en-US" sz="2000" dirty="0"/>
              <a:t> showed that similar emotional words clustered together, proving the model learned meaningful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Dropout and L2 regularization</a:t>
            </a:r>
            <a:r>
              <a:rPr lang="en-US" sz="2000" dirty="0"/>
              <a:t> reduced overfitting but slightly lowered validation accuracy. Reviews with a prediction above </a:t>
            </a:r>
            <a:r>
              <a:rPr lang="en-US" sz="2000" b="1" dirty="0"/>
              <a:t>0.5</a:t>
            </a:r>
            <a:r>
              <a:rPr lang="en-US" sz="2000" dirty="0"/>
              <a:t> were classified as </a:t>
            </a:r>
            <a:r>
              <a:rPr lang="en-US" sz="2000" b="1" dirty="0"/>
              <a:t>positive</a:t>
            </a:r>
            <a:r>
              <a:rPr lang="en-US" sz="2000" dirty="0"/>
              <a:t>.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0808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1084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Google Sans Text</vt:lpstr>
      <vt:lpstr>Office Theme</vt:lpstr>
      <vt:lpstr>Text Sentiment Classification with RNN/LSTM (IMDB Dataset)  </vt:lpstr>
      <vt:lpstr>Loading and preprocessing IMDB dataset</vt:lpstr>
      <vt:lpstr>LSTM model for binary sentiment</vt:lpstr>
      <vt:lpstr>Plot training/validation accuracy</vt:lpstr>
      <vt:lpstr>Comparison with a GRU-based model</vt:lpstr>
      <vt:lpstr>Evaluation on test set</vt:lpstr>
      <vt:lpstr>Predictions for custom sentences and output</vt:lpstr>
      <vt:lpstr>Dropout and regularization</vt:lpstr>
      <vt:lpstr>Embedding weights using t-SNE or PCA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Malik</dc:creator>
  <cp:lastModifiedBy>Kato Joseph Bwanika</cp:lastModifiedBy>
  <cp:revision>17</cp:revision>
  <dcterms:created xsi:type="dcterms:W3CDTF">2025-10-21T20:53:33Z</dcterms:created>
  <dcterms:modified xsi:type="dcterms:W3CDTF">2025-10-22T05:03:09Z</dcterms:modified>
</cp:coreProperties>
</file>